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36846"/>
          </a:solidFill>
          <a:ln w="12700">
            <a:solidFill>
              <a:srgbClr val="9368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Platform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Data Flows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 ·  ESPP  ·  GL Accounting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1280160"/>
            <a:ext cx="1691640" cy="1005840"/>
          </a:xfrm>
          <a:prstGeom prst="rect">
            <a:avLst/>
          </a:prstGeom>
          <a:solidFill>
            <a:srgbClr val="154C8A">
              <a:alpha val="80000"/>
            </a:srgbClr>
          </a:solidFill>
          <a:ln w="12700">
            <a:solidFill>
              <a:srgbClr val="154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42048" y="13898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Demographics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42048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4F0"/>
                </a:solidFill>
              </a:rPr>
              <a:t>Create · Update · Terminate · Rehire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223760" y="2514600"/>
            <a:ext cx="1691640" cy="1005840"/>
          </a:xfrm>
          <a:prstGeom prst="rect">
            <a:avLst/>
          </a:prstGeom>
          <a:solidFill>
            <a:srgbClr val="15803D">
              <a:alpha val="80000"/>
            </a:srgbClr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42048" y="26243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 ESPP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42048" y="299008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4F0"/>
                </a:solidFill>
              </a:rPr>
              <a:t>Eligibility · Deductions · Payroll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223760" y="3749040"/>
            <a:ext cx="1691640" cy="1005840"/>
          </a:xfrm>
          <a:prstGeom prst="rect">
            <a:avLst/>
          </a:prstGeom>
          <a:solidFill>
            <a:srgbClr val="6D28D9">
              <a:alpha val="8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42048" y="38587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Accounting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42048" y="422452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4F0"/>
                </a:solidFill>
              </a:rPr>
              <a:t>RSU · Withholding · Amortization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Internal Use Only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4C8A"/>
          </a:solidFill>
          <a:ln w="12700">
            <a:solidFill>
              <a:srgbClr val="154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Demographics — Participant Data Flow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51560" y="78638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4748B"/>
                </a:solidFill>
              </a:rPr>
              <a:t>HRIS / HCM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154680" y="786384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4748B"/>
                </a:solidFill>
              </a:rPr>
              <a:t>Merge HRIS API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760720" y="786384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4748B"/>
                </a:solidFill>
              </a:rPr>
              <a:t>JPM WPS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1115568"/>
            <a:ext cx="749808" cy="7498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11556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</a:rPr>
              <a:t>NEW HIRE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051560" y="1078992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11338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E"/>
                </a:solidFill>
              </a:rPr>
              <a:t>Workday / ADP fires new employee event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97280" y="141732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employee_id, start_date, location, pay_group, job_title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898648" y="1581912"/>
            <a:ext cx="256032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1426464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54680" y="1078992"/>
            <a:ext cx="233172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46120" y="1152144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4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/employees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4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/employments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4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/locations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4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/pay-groups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504688" y="1581912"/>
            <a:ext cx="256032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1426464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60720" y="1078992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52160" y="1152144"/>
            <a:ext cx="2971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E"/>
                </a:solidFill>
              </a:rPr>
              <a:t>Validate grant eligibility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E"/>
                </a:solidFill>
              </a:rPr>
              <a:t>Create participant record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E"/>
                </a:solidFill>
              </a:rPr>
              <a:t>Assign vesting schedule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E"/>
                </a:solidFill>
              </a:rPr>
              <a:t>Unlock participant portal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002536"/>
            <a:ext cx="749808" cy="749808"/>
          </a:xfrm>
          <a:prstGeom prst="rect">
            <a:avLst/>
          </a:prstGeom>
          <a:solidFill>
            <a:srgbClr val="154C8A"/>
          </a:solidFill>
          <a:ln w="12700">
            <a:solidFill>
              <a:srgbClr val="154C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0025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</a:rPr>
              <a:t>UPDATE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051560" y="1965960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4C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20208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E"/>
                </a:solidFill>
              </a:rPr>
              <a:t>Field change triggers delta event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97280" y="230428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Name, location, job, comp, manager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898648" y="2468880"/>
            <a:ext cx="256032" cy="0"/>
          </a:xfrm>
          <a:prstGeom prst="line">
            <a:avLst/>
          </a:prstGeom>
          <a:noFill/>
          <a:ln w="25400">
            <a:solidFill>
              <a:srgbClr val="154C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63240" y="2313432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4C8A"/>
                </a:solidFill>
              </a:rPr>
              <a:t>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154680" y="1965960"/>
            <a:ext cx="233172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154C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46120" y="2039112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4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/employees (delta sync)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4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/locations (jurisdiction)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504688" y="2468880"/>
            <a:ext cx="256032" cy="0"/>
          </a:xfrm>
          <a:prstGeom prst="line">
            <a:avLst/>
          </a:prstGeom>
          <a:noFill/>
          <a:ln w="25400">
            <a:solidFill>
              <a:srgbClr val="154C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2313432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4C8A"/>
                </a:solidFill>
              </a:rPr>
              <a:t>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60720" y="1965960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4C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852160" y="2039112"/>
            <a:ext cx="2971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E"/>
                </a:solidFill>
              </a:rPr>
              <a:t>Update tax jurisdiction if location changed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E"/>
                </a:solidFill>
              </a:rPr>
              <a:t>Recalculate withholding rate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E"/>
                </a:solidFill>
              </a:rPr>
              <a:t>Refresh participant profile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2889504"/>
            <a:ext cx="749808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88950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</a:rPr>
              <a:t>TERMINATION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051560" y="2852928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97280" y="2907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E"/>
                </a:solidFill>
              </a:rPr>
              <a:t>Termination event fired in HRIS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97280" y="319125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termination_date, reason_code, last_pay_date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898648" y="3355848"/>
            <a:ext cx="25603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63240" y="3200400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›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154680" y="2852928"/>
            <a:ext cx="233172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246120" y="2926080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4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/employees (status=terminated)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4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/time-off (unvested review)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504688" y="3355848"/>
            <a:ext cx="25603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200400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›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760720" y="2852928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852160" y="2926080"/>
            <a:ext cx="2971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E"/>
                </a:solidFill>
              </a:rPr>
              <a:t>Flag for forfeiture calculation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E"/>
                </a:solidFill>
              </a:rPr>
              <a:t>Cancel unvested grants per plan rules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E"/>
                </a:solidFill>
              </a:rPr>
              <a:t>Generate final payout file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28600" y="3776472"/>
            <a:ext cx="749808" cy="7498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377647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</a:rPr>
              <a:t>REHIRE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051560" y="3739896"/>
            <a:ext cx="1828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097280" y="3794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E"/>
                </a:solidFill>
              </a:rPr>
              <a:t>Rehire event with new start date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97280" y="407822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original_id, rehire_date, new_pay_group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898648" y="4242816"/>
            <a:ext cx="256032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63240" y="408736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</a:rPr>
              <a:t>›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154680" y="3739896"/>
            <a:ext cx="233172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3246120" y="3813048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4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/employees (status=active)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54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original participant_id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504688" y="4242816"/>
            <a:ext cx="256032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408736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</a:rPr>
              <a:t>›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760720" y="3739896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852160" y="3813048"/>
            <a:ext cx="2971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E"/>
                </a:solidFill>
              </a:rPr>
              <a:t>Restore participant record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E"/>
                </a:solidFill>
              </a:rPr>
              <a:t>Apply rehire grant policy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0D1B2E"/>
                </a:solidFill>
              </a:rPr>
              <a:t>Reset vesting clock per plan doc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28600" y="4773168"/>
            <a:ext cx="86868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8600" y="481888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Source: Merge HRIS Unified API — /employees  /employments  /locations  /pay-groups  /time-off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ESPP — Eligibility, Payroll Deductions &amp; Contribution Flow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1600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160020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321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850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Pull Eligibility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207008"/>
            <a:ext cx="1435608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HRIS sync via Merge: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/employees → status,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start_date, FTE%,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employment_type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Exclude: contractors,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part-time &lt;20hrs,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non-US entities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37944" y="2633472"/>
            <a:ext cx="155448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9656" y="2468880"/>
            <a:ext cx="192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803D"/>
                </a:solidFill>
              </a:rPr>
              <a:t>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84248" y="804672"/>
            <a:ext cx="1600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84248" y="804672"/>
            <a:ext cx="160020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75688" y="8321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31720" y="850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Enrollment Window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75688" y="1207008"/>
            <a:ext cx="1435608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Participant elects 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of gross pay (1–15%)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Pay period: weekly 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bi-weekly / semi-monthly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JPM WPS validates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against IRS $25K cap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593592" y="2633472"/>
            <a:ext cx="155448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75304" y="2468880"/>
            <a:ext cx="192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803D"/>
                </a:solidFill>
              </a:rPr>
              <a:t>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39896" y="804672"/>
            <a:ext cx="1600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39896" y="804672"/>
            <a:ext cx="160020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31336" y="8321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87368" y="850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Per-Pay Deduction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31336" y="1207008"/>
            <a:ext cx="1435608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Each payroll cycle:
deduction = elected%
× gross pay
Contribution file
generated per pay-group
and currency
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2633472"/>
            <a:ext cx="155448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30952" y="2468880"/>
            <a:ext cx="192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803D"/>
                </a:solidFill>
              </a:rPr>
              <a:t>›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95544" y="804672"/>
            <a:ext cx="1600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95544" y="804672"/>
            <a:ext cx="160020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86984" y="8321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43016" y="850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Send to Payroll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86984" y="1207008"/>
            <a:ext cx="1435608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File push / direct API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to ADP, Workday,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Dayforce, Paychex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Fields: employee_id,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amount, pay_date,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plan_id, offering_period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04888" y="2633472"/>
            <a:ext cx="155448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0" y="2468880"/>
            <a:ext cx="192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803D"/>
                </a:solidFill>
              </a:rPr>
              <a:t>›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51192" y="804672"/>
            <a:ext cx="1600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51192" y="804672"/>
            <a:ext cx="160020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42632" y="8321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598664" y="850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Purchase Event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42632" y="1207008"/>
            <a:ext cx="1435608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End of offering period: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purchase at 85% of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lower of open/close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Bargain element 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W-2 income report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2E"/>
                </a:solidFill>
              </a:rPr>
              <a:t>back to payroll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" y="4297680"/>
            <a:ext cx="8686800" cy="475488"/>
          </a:xfrm>
          <a:prstGeom prst="rect">
            <a:avLst/>
          </a:prstGeom>
          <a:solidFill>
            <a:srgbClr val="ECFDF5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2976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Pay Frequencies Supported: </a:t>
            </a:r>
            <a:pPr indent="0" marL="0">
              <a:buNone/>
            </a:pPr>
            <a:r>
              <a:rPr lang="en-US" sz="900" dirty="0">
                <a:solidFill>
                  <a:srgbClr val="0D1B2E"/>
                </a:solidFill>
              </a:rPr>
              <a:t>Weekly  ·  Bi-Weekly  ·  Semi-Monthly  ·  Monthly  ·  Multi-currency  ·  </a:t>
            </a:r>
            <a:pPr indent="0" marL="0">
              <a:buNone/>
            </a:pPr>
            <a:r>
              <a:rPr lang="en-US" sz="850" i="1" dirty="0">
                <a:solidFill>
                  <a:srgbClr val="B45309"/>
                </a:solidFill>
              </a:rPr>
              <a:t>⚠ Payroll write-back via direct ADP/Workday API or structured flat file (Merge is read-only for payroll write)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Accounting — Journal Entry Flow (ASC 718)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2976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4C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54864" cy="1828800"/>
          </a:xfrm>
          <a:prstGeom prst="rect">
            <a:avLst/>
          </a:prstGeom>
          <a:solidFill>
            <a:srgbClr val="154C8A"/>
          </a:solidFill>
          <a:ln w="12700">
            <a:solidFill>
              <a:srgbClr val="154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896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4C8A"/>
                </a:solidFill>
              </a:rPr>
              <a:t>RSU Vest — Expense Recognition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4904" y="11704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Trigger: RSU vest date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74904" y="1380744"/>
            <a:ext cx="4023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" y="14447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DR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" y="14447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Compensation Expense (by dept/CC)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4904" y="16550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CR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7512" y="165506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Additional Paid-in Capital (APIC)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4904" y="1901952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Amount = FMV on vest date × shares vested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Posted monthly or at each vest event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42976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804672"/>
            <a:ext cx="54864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5464" y="896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RSU Vest — Tax Withholding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55464" y="11704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Trigger: RSU vest → supplemental income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55464" y="1380744"/>
            <a:ext cx="4023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5464" y="14447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DR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48072" y="14447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 Tax Withholding Payable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55464" y="16550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CR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48072" y="165506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 / Payroll Clearing Account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55464" y="1901952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22% federal flat + state withholding rate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Net-settle (sell-to-cover) or payroll deduction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8600" y="2743200"/>
            <a:ext cx="42976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743200"/>
            <a:ext cx="54864" cy="1828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</a:rPr>
              <a:t>Monthly ASC 718 Amortization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74904" y="3108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Trigger: Month-end close run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4904" y="3319272"/>
            <a:ext cx="4023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33832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DR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7512" y="33832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Stock-Based Comp Expense (graded)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4904" y="35935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CR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7512" y="35935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APIC — Unvested Award Liability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4904" y="3840480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Graded vesting: each tranche amortized separately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Forfeiture rate applied to reduce expense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09160" y="2743200"/>
            <a:ext cx="42976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743200"/>
            <a:ext cx="54864" cy="18288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55464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</a:rPr>
              <a:t>ESPP — Discount Expense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55464" y="3108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Trigger: ESPP purchase date (end of offering)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55464" y="3319272"/>
            <a:ext cx="4023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5464" y="33832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DR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48072" y="33832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ESPP Compensation Expense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55464" y="35935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CR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48072" y="35935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Additional Paid-in Capital (APIC)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55464" y="3840480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15% discount + look-back option = ~32% fair value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Black-Scholes valuation of ESPP option element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28600" y="4681728"/>
            <a:ext cx="8686800" cy="329184"/>
          </a:xfrm>
          <a:prstGeom prst="rect">
            <a:avLst/>
          </a:prstGeom>
          <a:solidFill>
            <a:srgbClr val="F3F0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68172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</a:rPr>
              <a:t>Posted via Merge Accounting API → </a:t>
            </a:r>
            <a:pPr indent="0" marL="0">
              <a:buNone/>
            </a:pPr>
            <a:r>
              <a:rPr lang="en-US" sz="900" dirty="0">
                <a:solidFill>
                  <a:srgbClr val="0D1B2E"/>
                </a:solidFill>
              </a:rPr>
              <a:t>NetSuite  ·  Sage Intacct  ·  Dynamics 365 BC  ·  QuickBooks  ·  Xero  ·  Zoho Books</a:t>
            </a:r>
            <a:pPr indent="0" marL="0">
              <a:buNone/>
            </a:pPr>
            <a:r>
              <a:rPr lang="en-US" sz="850" i="1" dirty="0">
                <a:solidFill>
                  <a:srgbClr val="B45309"/>
                </a:solidFill>
              </a:rPr>
              <a:t>     ⚠ SAP / Oracle Fusion: direct connectors required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2026-02-22T19:43:31Z</dcterms:created>
  <dcterms:modified xsi:type="dcterms:W3CDTF">2026-02-22T19:43:31Z</dcterms:modified>
</cp:coreProperties>
</file>